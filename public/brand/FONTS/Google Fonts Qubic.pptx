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Urbanist Medium"/>
      <p:regular r:id="rId12"/>
      <p:bold r:id="rId13"/>
      <p:italic r:id="rId14"/>
      <p:boldItalic r:id="rId15"/>
    </p:embeddedFont>
    <p:embeddedFont>
      <p:font typeface="Urbanist SemiBold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  <p:embeddedFont>
      <p:font typeface="Montserrat 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22" Type="http://schemas.openxmlformats.org/officeDocument/2006/relationships/font" Target="fonts/Urbanist-italic.fntdata"/><Relationship Id="rId21" Type="http://schemas.openxmlformats.org/officeDocument/2006/relationships/font" Target="fonts/Urbanist-bold.fntdata"/><Relationship Id="rId24" Type="http://schemas.openxmlformats.org/officeDocument/2006/relationships/font" Target="fonts/MontserratLight-regular.fntdata"/><Relationship Id="rId23" Type="http://schemas.openxmlformats.org/officeDocument/2006/relationships/font" Target="fonts/Urbanis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26" Type="http://schemas.openxmlformats.org/officeDocument/2006/relationships/font" Target="fonts/MontserratLight-italic.fntdata"/><Relationship Id="rId25" Type="http://schemas.openxmlformats.org/officeDocument/2006/relationships/font" Target="fonts/MontserratLight-bold.fntdata"/><Relationship Id="rId27" Type="http://schemas.openxmlformats.org/officeDocument/2006/relationships/font" Target="fonts/MontserratLigh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Roboto-regular.fntdata"/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UrbanistMedium-bold.fntdata"/><Relationship Id="rId12" Type="http://schemas.openxmlformats.org/officeDocument/2006/relationships/font" Target="fonts/UrbanistMedium-regular.fntdata"/><Relationship Id="rId15" Type="http://schemas.openxmlformats.org/officeDocument/2006/relationships/font" Target="fonts/UrbanistMedium-boldItalic.fntdata"/><Relationship Id="rId14" Type="http://schemas.openxmlformats.org/officeDocument/2006/relationships/font" Target="fonts/UrbanistMedium-italic.fntdata"/><Relationship Id="rId17" Type="http://schemas.openxmlformats.org/officeDocument/2006/relationships/font" Target="fonts/UrbanistSemiBold-bold.fntdata"/><Relationship Id="rId16" Type="http://schemas.openxmlformats.org/officeDocument/2006/relationships/font" Target="fonts/UrbanistSemiBold-regular.fntdata"/><Relationship Id="rId19" Type="http://schemas.openxmlformats.org/officeDocument/2006/relationships/font" Target="fonts/UrbanistSemiBold-boldItalic.fntdata"/><Relationship Id="rId18" Type="http://schemas.openxmlformats.org/officeDocument/2006/relationships/font" Target="fonts/Urbanis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6a7548e9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6a7548e9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1" name="Google Shape;181;p22"/>
          <p:cNvSpPr/>
          <p:nvPr/>
        </p:nvSpPr>
        <p:spPr>
          <a:xfrm>
            <a:off x="8691458" y="228521"/>
            <a:ext cx="228623" cy="2285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82" name="Google Shape;182;p22"/>
          <p:cNvGrpSpPr/>
          <p:nvPr/>
        </p:nvGrpSpPr>
        <p:grpSpPr>
          <a:xfrm>
            <a:off x="8748530" y="323733"/>
            <a:ext cx="114479" cy="57238"/>
            <a:chOff x="498725" y="2069800"/>
            <a:chExt cx="205200" cy="102600"/>
          </a:xfrm>
        </p:grpSpPr>
        <p:cxnSp>
          <p:nvCxnSpPr>
            <p:cNvPr id="183" name="Google Shape;183;p22"/>
            <p:cNvCxnSpPr/>
            <p:nvPr/>
          </p:nvCxnSpPr>
          <p:spPr>
            <a:xfrm>
              <a:off x="498725" y="2069800"/>
              <a:ext cx="102600" cy="10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22"/>
            <p:cNvCxnSpPr/>
            <p:nvPr/>
          </p:nvCxnSpPr>
          <p:spPr>
            <a:xfrm flipH="1">
              <a:off x="601325" y="2069800"/>
              <a:ext cx="102600" cy="10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5" name="Google Shape;185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6" name="Google Shape;186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89" name="Google Shape;189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0" name="Google Shape;190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1" name="Google Shape;191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3" name="Google Shape;193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4" name="Google Shape;194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5" name="Google Shape;195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7" name="Google Shape;197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8" name="Google Shape;198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9" name="Google Shape;199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1" name="Google Shape;201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5" name="Google Shape;205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6" name="Google Shape;206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7" name="Google Shape;207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1" name="Google Shape;211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8" name="Google Shape;218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19" name="Google Shape;219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4" name="Google Shape;224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9" name="Google Shape;229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0" name="Google Shape;240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1" name="Google Shape;241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2" name="Google Shape;242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4" name="Google Shape;244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8" name="Google Shape;248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1" name="Google Shape;251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0" name="Google Shape;290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4" name="Google Shape;294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6" name="Google Shape;296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8" name="Google Shape;298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6" name="Google Shape;306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3" name="Google Shape;313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6" name="Google Shape;316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9" name="Google Shape;319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0" name="Google Shape;320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1" name="Google Shape;321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4" name="Google Shape;324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0" name="Google Shape;330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4" name="Google Shape;334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6" name="Google Shape;336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7" name="Google Shape;337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8" name="Google Shape;338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9" name="Google Shape;339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0" name="Google Shape;340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2" name="Google Shape;342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4" name="Google Shape;344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0" name="Google Shape;350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3" name="Google Shape;353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4" name="Google Shape;354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8" name="Google Shape;358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2" name="Google Shape;362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4" name="Google Shape;364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0" name="Google Shape;370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2" name="Google Shape;372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3" name="Google Shape;373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4" name="Google Shape;374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9" name="Google Shape;379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7" name="Google Shape;387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3" name="Google Shape;393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8" name="Google Shape;39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9" name="Google Shape;39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4" name="Google Shape;404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8" name="Google Shape;408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9" name="Google Shape;409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6" name="Google Shape;416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0" name="Google Shape;420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3" name="Google Shape;423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6" name="Google Shape;426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9" name="Google Shape;439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4" name="Google Shape;444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0" name="Google Shape;45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2" name="Google Shape;452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5" name="Google Shape;455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0" name="Google Shape;46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2" name="Google Shape;462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4" name="Google Shape;474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3"/>
          <p:cNvSpPr/>
          <p:nvPr/>
        </p:nvSpPr>
        <p:spPr>
          <a:xfrm>
            <a:off x="269925" y="1014764"/>
            <a:ext cx="2754600" cy="31140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2" name="Google Shape;482;p53"/>
          <p:cNvSpPr/>
          <p:nvPr/>
        </p:nvSpPr>
        <p:spPr>
          <a:xfrm>
            <a:off x="3147750" y="1014741"/>
            <a:ext cx="2754600" cy="31140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53"/>
          <p:cNvSpPr/>
          <p:nvPr/>
        </p:nvSpPr>
        <p:spPr>
          <a:xfrm>
            <a:off x="6025575" y="1014741"/>
            <a:ext cx="2754600" cy="31140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4" name="Google Shape;484;p53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QUBIC</a:t>
            </a:r>
            <a:endParaRPr/>
          </a:p>
        </p:txBody>
      </p:sp>
      <p:sp>
        <p:nvSpPr>
          <p:cNvPr id="485" name="Google Shape;485;p53"/>
          <p:cNvSpPr txBox="1"/>
          <p:nvPr>
            <p:ph idx="5" type="subTitle"/>
          </p:nvPr>
        </p:nvSpPr>
        <p:spPr>
          <a:xfrm>
            <a:off x="539089" y="1259362"/>
            <a:ext cx="2310000" cy="299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Urbanist Bold</a:t>
            </a:r>
            <a:endParaRPr b="1">
              <a:solidFill>
                <a:srgbClr val="00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6" name="Google Shape;486;p53"/>
          <p:cNvSpPr txBox="1"/>
          <p:nvPr>
            <p:ph idx="6" type="subTitle"/>
          </p:nvPr>
        </p:nvSpPr>
        <p:spPr>
          <a:xfrm>
            <a:off x="539089" y="1557324"/>
            <a:ext cx="2310000" cy="214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Urbanist"/>
                <a:ea typeface="Urbanist"/>
                <a:cs typeface="Urbanist"/>
                <a:sym typeface="Urbanist"/>
              </a:rPr>
              <a:t>H1</a:t>
            </a:r>
            <a:endParaRPr b="1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7" name="Google Shape;487;p53"/>
          <p:cNvSpPr txBox="1"/>
          <p:nvPr>
            <p:ph idx="7" type="body"/>
          </p:nvPr>
        </p:nvSpPr>
        <p:spPr>
          <a:xfrm>
            <a:off x="539100" y="1970767"/>
            <a:ext cx="2310000" cy="20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Urbanist Bold is a geometric sans-serif typeface inspired by Modernist design, featuring clean, low-contrast letterforms and a strong, contemporary look. It is a strong visual substitute for Francy, especially for headlines, as both share a bold, geometric, and modern aesthetic. Similarity to Francy: High, Urbanist Bold closely matches the rounded, geometric, and playful style of Francy.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88" name="Google Shape;488;p53"/>
          <p:cNvSpPr txBox="1"/>
          <p:nvPr>
            <p:ph idx="9" type="subTitle"/>
          </p:nvPr>
        </p:nvSpPr>
        <p:spPr>
          <a:xfrm>
            <a:off x="3416925" y="1259369"/>
            <a:ext cx="2310000" cy="299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Roboto Bold</a:t>
            </a:r>
            <a:endParaRPr b="1"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53"/>
          <p:cNvSpPr txBox="1"/>
          <p:nvPr>
            <p:ph idx="13" type="subTitle"/>
          </p:nvPr>
        </p:nvSpPr>
        <p:spPr>
          <a:xfrm>
            <a:off x="3416925" y="1557323"/>
            <a:ext cx="2310000" cy="214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H2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53"/>
          <p:cNvSpPr txBox="1"/>
          <p:nvPr>
            <p:ph idx="16" type="subTitle"/>
          </p:nvPr>
        </p:nvSpPr>
        <p:spPr>
          <a:xfrm>
            <a:off x="6294760" y="1259369"/>
            <a:ext cx="2310000" cy="299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Montserrat Light</a:t>
            </a:r>
            <a:endParaRPr>
              <a:solidFill>
                <a:srgbClr val="00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91" name="Google Shape;491;p53"/>
          <p:cNvSpPr txBox="1"/>
          <p:nvPr>
            <p:ph idx="17" type="subTitle"/>
          </p:nvPr>
        </p:nvSpPr>
        <p:spPr>
          <a:xfrm>
            <a:off x="6294760" y="1557324"/>
            <a:ext cx="2310000" cy="214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Body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92" name="Google Shape;492;p53"/>
          <p:cNvSpPr txBox="1"/>
          <p:nvPr>
            <p:ph idx="7" type="body"/>
          </p:nvPr>
        </p:nvSpPr>
        <p:spPr>
          <a:xfrm>
            <a:off x="3370050" y="1970767"/>
            <a:ext cx="2310000" cy="20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Roboto Bold is a clean and bold. While Adelle Sans has its own unique style, Orbitron Medium provides a similarly distinctive and modern appearance for subheadings. Similarity to Adelle Sans: Roboto Bold offers a comparable style and sharp feel, though the exact letterforms may differ.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93" name="Google Shape;493;p53"/>
          <p:cNvSpPr txBox="1"/>
          <p:nvPr>
            <p:ph idx="7" type="body"/>
          </p:nvPr>
        </p:nvSpPr>
        <p:spPr>
          <a:xfrm>
            <a:off x="6201000" y="1982542"/>
            <a:ext cx="2310000" cy="20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Light"/>
                <a:ea typeface="Montserrat Light"/>
                <a:cs typeface="Montserrat Light"/>
                <a:sym typeface="Montserrat Light"/>
              </a:rPr>
              <a:t>Montserrat is a geometric sans-serif font inspired by urban signage, offering a clean, modern look and excellent legibility for body text. It is widely recognized as the closest Google Fonts alternative to Glacial Indifference, as both share a minimalist, neutral, and geometric design. Similarity to Glacial Indifference: Very high,  Montserrat is almost identical in structure and tone, making it an ideal substitute.</a:t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